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0" y="320040"/>
            <a:ext cx="3182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MatsukiyoCocokara &amp; Co.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2331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IT部門勉強会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Git / GitHub 入門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37947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バージョン管理の基本と、非エンジニアも知っておきたい業務での使い方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4617720"/>
            <a:ext cx="457200" cy="274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800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2026年7月　IT部門スキル強化研修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513892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対象：IT部門メンバー（非エンジニア含む）約30名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本日の内容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887968" y="73152"/>
            <a:ext cx="29809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MatsukiyoCocokara &amp; Co.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0" y="640080"/>
            <a:ext cx="12188952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51560"/>
            <a:ext cx="110642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371600"/>
            <a:ext cx="640080" cy="640080"/>
          </a:xfrm>
          <a:prstGeom prst="ellipse">
            <a:avLst/>
          </a:prstGeom>
          <a:solidFill>
            <a:srgbClr val="E3EDF9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565C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828800" y="1216152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Gitとは何か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828800" y="1709928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初心者向けに、バージョン管理の考え方と基本用語を整理します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606040"/>
            <a:ext cx="110642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2926080"/>
            <a:ext cx="640080" cy="640080"/>
          </a:xfrm>
          <a:prstGeom prst="ellipse">
            <a:avLst/>
          </a:prstGeom>
          <a:solidFill>
            <a:srgbClr val="E8F5E9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9260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E7D3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828800" y="2770632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コマンドラインとGUIツールの比較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28800" y="3264408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2つの操作方法の違いと、それぞれに向いている人を紹介します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160520"/>
            <a:ext cx="110642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4480560"/>
            <a:ext cx="640080" cy="640080"/>
          </a:xfrm>
          <a:prstGeom prst="ellipse">
            <a:avLst/>
          </a:prstGeom>
          <a:solidFill>
            <a:srgbClr val="EEEEEE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480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5757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828800" y="4325112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業務での活用イメージ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828800" y="4818888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IT部門の業務でGitがどう役立つか、具体例で確認します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20040" y="660196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3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2026 MatsukiyoCocokara &amp; Co. All rights Reserved.</a:t>
            </a:r>
            <a:endParaRPr lang="en-US" sz="530" dirty="0"/>
          </a:p>
        </p:txBody>
      </p:sp>
      <p:sp>
        <p:nvSpPr>
          <p:cNvPr id="22" name="Text 20"/>
          <p:cNvSpPr/>
          <p:nvPr/>
        </p:nvSpPr>
        <p:spPr>
          <a:xfrm>
            <a:off x="7772400" y="660196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3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IT部門 勉強会｜Git/GitHub入門</a:t>
            </a:r>
            <a:endParaRPr lang="en-US" sz="530" dirty="0"/>
          </a:p>
        </p:txBody>
      </p:sp>
      <p:sp>
        <p:nvSpPr>
          <p:cNvPr id="23" name="Text 21"/>
          <p:cNvSpPr/>
          <p:nvPr/>
        </p:nvSpPr>
        <p:spPr>
          <a:xfrm>
            <a:off x="11686032" y="660196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75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6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33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46888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4B556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01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685800" y="35661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Gitとは何か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4251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初心者向け：バージョン管理の考え方と基本用語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Git / GitHub 入門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03152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Gitとは？ ― 「バージョン管理」の仕組み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887968" y="73152"/>
            <a:ext cx="29809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MatsukiyoCocokara &amp; Co.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0" y="640080"/>
            <a:ext cx="12188952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229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Gitは、ファイルの変更履歴を記録・管理する「バージョン管理システム」です。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5349240" cy="4480560"/>
          </a:xfrm>
          <a:prstGeom prst="roundRect">
            <a:avLst>
              <a:gd name="adj" fmla="val 122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6459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Gitを使わない場合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2249424"/>
            <a:ext cx="109728" cy="109728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121408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「資料_v1」「資料_v2_最新」「資料_v2_最新_修正後」…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ファイル名で管理してしまい、どれが最新か分からなくなる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3163824"/>
            <a:ext cx="109728" cy="109728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3035808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誰がいつ何を変更したのか記録が残らない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4078224"/>
            <a:ext cx="109728" cy="109728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3950208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複数人で同時に編集すると、上書きしてしまうリスクがある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4992624"/>
            <a:ext cx="109728" cy="109728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864608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前のバージョンに戻したくても、簡単に戻せない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72200" y="1417320"/>
            <a:ext cx="5349240" cy="4480560"/>
          </a:xfrm>
          <a:prstGeom prst="roundRect">
            <a:avLst>
              <a:gd name="adj" fmla="val 1224"/>
            </a:avLst>
          </a:prstGeom>
          <a:solidFill>
            <a:srgbClr val="E3EDF9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164592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Gitを使う場合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46520" y="2249424"/>
            <a:ext cx="109728" cy="10972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20" name="Text 18"/>
          <p:cNvSpPr/>
          <p:nvPr/>
        </p:nvSpPr>
        <p:spPr>
          <a:xfrm>
            <a:off x="6720840" y="2121408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変更のたびに「コミット」として記録され、履歴が自動的に残る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46520" y="3163824"/>
            <a:ext cx="109728" cy="10972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22" name="Text 20"/>
          <p:cNvSpPr/>
          <p:nvPr/>
        </p:nvSpPr>
        <p:spPr>
          <a:xfrm>
            <a:off x="6720840" y="3035808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誰が・いつ・何を・なぜ変更したかが一覧で確認できる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46520" y="4078224"/>
            <a:ext cx="109728" cy="10972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24" name="Text 22"/>
          <p:cNvSpPr/>
          <p:nvPr/>
        </p:nvSpPr>
        <p:spPr>
          <a:xfrm>
            <a:off x="6720840" y="3950208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複数人が同時に作業しても、変更を安全に統合できる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46520" y="4992624"/>
            <a:ext cx="109728" cy="109728"/>
          </a:xfrm>
          <a:prstGeom prst="ellipse">
            <a:avLst/>
          </a:prstGeom>
          <a:solidFill>
            <a:srgbClr val="1565C0"/>
          </a:solidFill>
          <a:ln/>
        </p:spPr>
      </p:sp>
      <p:sp>
        <p:nvSpPr>
          <p:cNvPr id="26" name="Text 24"/>
          <p:cNvSpPr/>
          <p:nvPr/>
        </p:nvSpPr>
        <p:spPr>
          <a:xfrm>
            <a:off x="6720840" y="4864608"/>
            <a:ext cx="4526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過去のどの時点にもすぐ戻せる（バックアップ代わりにもなる）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20040" y="660196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3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2026 MatsukiyoCocokara &amp; Co. All rights Reserved.</a:t>
            </a:r>
            <a:endParaRPr lang="en-US" sz="530" dirty="0"/>
          </a:p>
        </p:txBody>
      </p:sp>
      <p:sp>
        <p:nvSpPr>
          <p:cNvPr id="28" name="Text 26"/>
          <p:cNvSpPr/>
          <p:nvPr/>
        </p:nvSpPr>
        <p:spPr>
          <a:xfrm>
            <a:off x="7772400" y="660196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3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IT部門 勉強会｜Git/GitHub入門</a:t>
            </a:r>
            <a:endParaRPr lang="en-US" sz="530" dirty="0"/>
          </a:p>
        </p:txBody>
      </p:sp>
      <p:sp>
        <p:nvSpPr>
          <p:cNvPr id="29" name="Text 27"/>
          <p:cNvSpPr/>
          <p:nvPr/>
        </p:nvSpPr>
        <p:spPr>
          <a:xfrm>
            <a:off x="11686032" y="660196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75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6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「Git」と「GitHub」は何が違う？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887968" y="73152"/>
            <a:ext cx="29809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MatsukiyoCocokara &amp; Co.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0" y="640080"/>
            <a:ext cx="12188952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229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よく混同されますが、Gitは「仕組み」、GitHubは「その仕組みを使うためのサービス」です。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417320"/>
            <a:ext cx="512064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1691640"/>
            <a:ext cx="502920" cy="502920"/>
          </a:xfrm>
          <a:prstGeom prst="ellipse">
            <a:avLst/>
          </a:prstGeom>
          <a:solidFill>
            <a:srgbClr val="E3EDF9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565C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Git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554480" y="16916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Git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237744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バージョン管理の「しくみ」そのもの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自分のPC上で動作するソフトウェア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ネットに繋がっていなくても使える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GitHub以外の場所でも利用できる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417320"/>
            <a:ext cx="5120640" cy="3200400"/>
          </a:xfrm>
          <a:prstGeom prst="roundRect">
            <a:avLst>
              <a:gd name="adj" fmla="val 1714"/>
            </a:avLst>
          </a:prstGeom>
          <a:solidFill>
            <a:srgbClr val="E8F5E9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5080" y="16916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16916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Hub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040880" y="16916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GitHub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377440"/>
            <a:ext cx="45720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Gitの仕組みをインターネット上で使うためのサービス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変更履歴をクラウド上で保管・共有できる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複数人・複数拠点からの共同作業がしやすくなる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画面上で変更内容を見たり、コメントを付けられる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4846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ポイント：Git ＝ しくみ（エンジン）／ GitHub ＝ そのしくみを使う場所（クラウドサービス）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20040" y="660196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3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2026 MatsukiyoCocokara &amp; Co. All rights Reserved.</a:t>
            </a:r>
            <a:endParaRPr lang="en-US" sz="530" dirty="0"/>
          </a:p>
        </p:txBody>
      </p:sp>
      <p:sp>
        <p:nvSpPr>
          <p:cNvPr id="19" name="Text 17"/>
          <p:cNvSpPr/>
          <p:nvPr/>
        </p:nvSpPr>
        <p:spPr>
          <a:xfrm>
            <a:off x="7772400" y="660196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3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IT部門 勉強会｜Git/GitHub入門</a:t>
            </a:r>
            <a:endParaRPr lang="en-US" sz="530" dirty="0"/>
          </a:p>
        </p:txBody>
      </p:sp>
      <p:sp>
        <p:nvSpPr>
          <p:cNvPr id="20" name="Text 18"/>
          <p:cNvSpPr/>
          <p:nvPr/>
        </p:nvSpPr>
        <p:spPr>
          <a:xfrm>
            <a:off x="11686032" y="660196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75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6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覚えておきたい基本用語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887968" y="73152"/>
            <a:ext cx="29809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MatsukiyoCocokara &amp; Co.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0" y="640080"/>
            <a:ext cx="12188952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960120"/>
            <a:ext cx="5372100" cy="1600200"/>
          </a:xfrm>
          <a:prstGeom prst="roundRect">
            <a:avLst>
              <a:gd name="adj" fmla="val 3429"/>
            </a:avLst>
          </a:prstGeom>
          <a:solidFill>
            <a:srgbClr val="F5F5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2344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1188720"/>
            <a:ext cx="41833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リポジトリ (Repository)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68680" y="1783080"/>
            <a:ext cx="47320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ファイルとその変更履歴を保管する「箱」。プロジェクト単位で作成する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40780" y="960120"/>
            <a:ext cx="5372100" cy="1600200"/>
          </a:xfrm>
          <a:prstGeom prst="roundRect">
            <a:avLst>
              <a:gd name="adj" fmla="val 3429"/>
            </a:avLst>
          </a:prstGeom>
          <a:solidFill>
            <a:srgbClr val="F5F5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15100" y="12344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51510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55180" y="1188720"/>
            <a:ext cx="41833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コミット (Commit)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60820" y="1783080"/>
            <a:ext cx="47320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変更内容を記録する操作。「いつ・誰が・何を変更したか」がここに残る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880360"/>
            <a:ext cx="5372100" cy="1600200"/>
          </a:xfrm>
          <a:prstGeom prst="roundRect">
            <a:avLst>
              <a:gd name="adj" fmla="val 3429"/>
            </a:avLst>
          </a:prstGeom>
          <a:solidFill>
            <a:srgbClr val="F5F5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31546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63040" y="3108960"/>
            <a:ext cx="41833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ブランチ (Branch)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68680" y="3703320"/>
            <a:ext cx="47320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作業を枝分かれさせる仕組み。本番に影響を与えずに試作・検証ができる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40780" y="2880360"/>
            <a:ext cx="5372100" cy="1600200"/>
          </a:xfrm>
          <a:prstGeom prst="roundRect">
            <a:avLst>
              <a:gd name="adj" fmla="val 3429"/>
            </a:avLst>
          </a:prstGeom>
          <a:solidFill>
            <a:srgbClr val="F5F5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15100" y="31546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51510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155180" y="3108960"/>
            <a:ext cx="41833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プルリクエスト (Pull Request)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560820" y="3703320"/>
            <a:ext cx="47320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変更内容を確認してもらい、本流に取り込んでもらうための依頼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461772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これらはGit/GitHubの基本操作でほぼ必ず登場する言葉です。まずはこの4つだけ覚えれば十分です。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0040" y="660196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3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2026 MatsukiyoCocokara &amp; Co. All rights Reserved.</a:t>
            </a:r>
            <a:endParaRPr lang="en-US" sz="530" dirty="0"/>
          </a:p>
        </p:txBody>
      </p:sp>
      <p:sp>
        <p:nvSpPr>
          <p:cNvPr id="28" name="Text 26"/>
          <p:cNvSpPr/>
          <p:nvPr/>
        </p:nvSpPr>
        <p:spPr>
          <a:xfrm>
            <a:off x="7772400" y="660196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3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IT部門 勉強会｜Git/GitHub入門</a:t>
            </a:r>
            <a:endParaRPr lang="en-US" sz="530" dirty="0"/>
          </a:p>
        </p:txBody>
      </p:sp>
      <p:sp>
        <p:nvSpPr>
          <p:cNvPr id="29" name="Text 27"/>
          <p:cNvSpPr/>
          <p:nvPr/>
        </p:nvSpPr>
        <p:spPr>
          <a:xfrm>
            <a:off x="11686032" y="660196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75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</a:t>
            </a:r>
            <a:endParaRPr lang="en-US" sz="6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基本の作業の流れ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887968" y="73152"/>
            <a:ext cx="29809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MatsukiyoCocokara &amp; Co.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0" y="640080"/>
            <a:ext cx="12188952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229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Gitの基本操作は、この4ステップの繰り返しです。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05840" y="3017520"/>
            <a:ext cx="10177272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715768"/>
            <a:ext cx="640080" cy="640080"/>
          </a:xfrm>
          <a:prstGeom prst="ellipse">
            <a:avLst/>
          </a:prstGeom>
          <a:solidFill>
            <a:srgbClr val="E3EDF9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7157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65C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" y="3520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clone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" y="3886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565C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取得する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42062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リポジトリを自分のPCにコピーする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508760" y="2697480"/>
            <a:ext cx="23865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1D5D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4078224" y="2715768"/>
            <a:ext cx="640080" cy="640080"/>
          </a:xfrm>
          <a:prstGeom prst="ellipse">
            <a:avLst/>
          </a:prstGeom>
          <a:solidFill>
            <a:srgbClr val="E3EDF9"/>
          </a:solidFill>
          <a:ln/>
        </p:spPr>
      </p:sp>
      <p:sp>
        <p:nvSpPr>
          <p:cNvPr id="15" name="Text 13"/>
          <p:cNvSpPr/>
          <p:nvPr/>
        </p:nvSpPr>
        <p:spPr>
          <a:xfrm>
            <a:off x="4078224" y="27157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65C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483864" y="3520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add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83864" y="3886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565C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変更を選ぶ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00984" y="42062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記録したい変更をコミット対象に追加する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901184" y="2697480"/>
            <a:ext cx="23865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1D5D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7470648" y="2715768"/>
            <a:ext cx="640080" cy="640080"/>
          </a:xfrm>
          <a:prstGeom prst="ellipse">
            <a:avLst/>
          </a:prstGeom>
          <a:solidFill>
            <a:srgbClr val="E3EDF9"/>
          </a:solidFill>
          <a:ln/>
        </p:spPr>
      </p:sp>
      <p:sp>
        <p:nvSpPr>
          <p:cNvPr id="21" name="Text 19"/>
          <p:cNvSpPr/>
          <p:nvPr/>
        </p:nvSpPr>
        <p:spPr>
          <a:xfrm>
            <a:off x="7470648" y="27157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65C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876288" y="3520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commit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876288" y="3886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565C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記録する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693408" y="42062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変更内容をメッセージ付きで記録する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293608" y="2697480"/>
            <a:ext cx="23865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1D5D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10863072" y="2715768"/>
            <a:ext cx="640080" cy="640080"/>
          </a:xfrm>
          <a:prstGeom prst="ellipse">
            <a:avLst/>
          </a:prstGeom>
          <a:solidFill>
            <a:srgbClr val="E3EDF9"/>
          </a:solidFill>
          <a:ln/>
        </p:spPr>
      </p:sp>
      <p:sp>
        <p:nvSpPr>
          <p:cNvPr id="27" name="Text 25"/>
          <p:cNvSpPr/>
          <p:nvPr/>
        </p:nvSpPr>
        <p:spPr>
          <a:xfrm>
            <a:off x="10863072" y="27157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565C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0268712" y="3520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push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0268712" y="3886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565C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送信する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537192" y="420624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記録した変更をGitHub（共有先）に反映する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48640" y="507492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5F5F5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507492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この一連の流れは、コマンドライン（文字入力）でもGUIツール（画面操作）でも同じように行えます。次の章で比較します。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20040" y="660196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3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2026 MatsukiyoCocokara &amp; Co. All rights Reserved.</a:t>
            </a:r>
            <a:endParaRPr lang="en-US" sz="530" dirty="0"/>
          </a:p>
        </p:txBody>
      </p:sp>
      <p:sp>
        <p:nvSpPr>
          <p:cNvPr id="34" name="Text 32"/>
          <p:cNvSpPr/>
          <p:nvPr/>
        </p:nvSpPr>
        <p:spPr>
          <a:xfrm>
            <a:off x="7772400" y="660196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3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IT部門 勉強会｜Git/GitHub入門</a:t>
            </a:r>
            <a:endParaRPr lang="en-US" sz="530" dirty="0"/>
          </a:p>
        </p:txBody>
      </p:sp>
      <p:sp>
        <p:nvSpPr>
          <p:cNvPr id="35" name="Text 33"/>
          <p:cNvSpPr/>
          <p:nvPr/>
        </p:nvSpPr>
        <p:spPr>
          <a:xfrm>
            <a:off x="11686032" y="660196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75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7</a:t>
            </a:r>
            <a:endParaRPr lang="en-US" sz="6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33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46888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4B556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02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685800" y="35661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コマンドラインとGUIツールの比較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4251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同じ操作を、文字入力で行うか／画面操作で行うか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Git / GitHub 入門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03152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2つの操作方法：コマンドラインとGUI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887968" y="73152"/>
            <a:ext cx="29809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MatsukiyoCocokara &amp; Co.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0" y="640080"/>
            <a:ext cx="12188952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914400"/>
            <a:ext cx="5120640" cy="3246120"/>
          </a:xfrm>
          <a:prstGeom prst="roundRect">
            <a:avLst>
              <a:gd name="adj" fmla="val 1690"/>
            </a:avLst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1430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コマンドライン（CLI）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1691640"/>
            <a:ext cx="4663440" cy="1005840"/>
          </a:xfrm>
          <a:prstGeom prst="roundRect">
            <a:avLst>
              <a:gd name="adj" fmla="val 3636"/>
            </a:avLst>
          </a:prstGeom>
          <a:solidFill>
            <a:srgbClr val="1F2937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1783080"/>
            <a:ext cx="43434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add .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-m "修正"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push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88036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キーボードで文字（コマンド）を入力して操作する方法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914400"/>
            <a:ext cx="512064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11430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GUIツール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0" y="1737360"/>
            <a:ext cx="4572000" cy="4572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7373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変更されたファイル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2304288"/>
            <a:ext cx="4572000" cy="4572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230428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コミットメッセージ入力欄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0" y="2871216"/>
            <a:ext cx="4572000" cy="45720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2871216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［Commit］［Push］ボタン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34290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マウスでクリックしながら画面上のボタンや一覧で操作する方法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4348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代表的なGUIツール：GitHub Desktop / Git GUI（Git for Windows 付属） / GitKraken / SourceTree など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" y="660196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3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2026 MatsukiyoCocokara &amp; Co. All rights Reserved.</a:t>
            </a:r>
            <a:endParaRPr lang="en-US" sz="530" dirty="0"/>
          </a:p>
        </p:txBody>
      </p:sp>
      <p:sp>
        <p:nvSpPr>
          <p:cNvPr id="22" name="Text 20"/>
          <p:cNvSpPr/>
          <p:nvPr/>
        </p:nvSpPr>
        <p:spPr>
          <a:xfrm>
            <a:off x="7772400" y="660196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3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IT部門 勉強会｜Git/GitHub入門</a:t>
            </a:r>
            <a:endParaRPr lang="en-US" sz="530" dirty="0"/>
          </a:p>
        </p:txBody>
      </p:sp>
      <p:sp>
        <p:nvSpPr>
          <p:cNvPr id="23" name="Text 21"/>
          <p:cNvSpPr/>
          <p:nvPr/>
        </p:nvSpPr>
        <p:spPr>
          <a:xfrm>
            <a:off x="11686032" y="660196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75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9</a:t>
            </a:r>
            <a:endParaRPr lang="en-US" sz="6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比較表：どちらを選ぶべきか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887968" y="73152"/>
            <a:ext cx="29809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MatsukiyoCocokara &amp; Co.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0" y="640080"/>
            <a:ext cx="12188952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6868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43400"/>
                <a:gridCol w="43434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観点</a:t>
                      </a:r>
                      <a:endParaRPr lang="en-US" sz="12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コマンドライン（CLI）</a:t>
                      </a:r>
                      <a:endParaRPr lang="en-US" sz="12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GUIツール</a:t>
                      </a:r>
                      <a:endParaRPr lang="en-US" sz="12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学習のしやすさ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コマンドを覚える必要があり、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最初はハードルが高い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画面を見ながら操作でき、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直感的に始めやすい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操作速度・効率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慣れると非常に速い。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複雑な操作もまとめて実行できる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基本操作は快適だが、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複雑な操作はCLIに劣る場合がある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変更内容の見やすさ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文字ベースのため、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差分の把握に慣れが必要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変更箇所が色分け表示され、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視覚的に把握しやすい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向いている人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エンジニア・頻繁にGitを使う人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非エンジニア・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これからGitに触れる人</a:t>
                      </a:r>
                      <a:endParaRPr lang="en-US" sz="110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20040" y="660196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3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2026 MatsukiyoCocokara &amp; Co. All rights Reserved.</a:t>
            </a:r>
            <a:endParaRPr lang="en-US" sz="530" dirty="0"/>
          </a:p>
        </p:txBody>
      </p:sp>
      <p:sp>
        <p:nvSpPr>
          <p:cNvPr id="8" name="Text 5"/>
          <p:cNvSpPr/>
          <p:nvPr/>
        </p:nvSpPr>
        <p:spPr>
          <a:xfrm>
            <a:off x="7772400" y="660196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3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IT部門 勉強会｜Git/GitHub入門</a:t>
            </a:r>
            <a:endParaRPr lang="en-US" sz="530" dirty="0"/>
          </a:p>
        </p:txBody>
      </p:sp>
      <p:sp>
        <p:nvSpPr>
          <p:cNvPr id="9" name="Text 6"/>
          <p:cNvSpPr/>
          <p:nvPr/>
        </p:nvSpPr>
        <p:spPr>
          <a:xfrm>
            <a:off x="11686032" y="660196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75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</a:t>
            </a:r>
            <a:endParaRPr lang="en-US" sz="6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33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46888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4B556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03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685800" y="35661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業務での活用イメージ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4251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IT部門の日常業務でGitをどう使えるか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Git / GitHub 入門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03152" y="63550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業務での活用シーン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887968" y="73152"/>
            <a:ext cx="29809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MatsukiyoCocokara &amp; Co.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0" y="640080"/>
            <a:ext cx="12188952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914400"/>
            <a:ext cx="537210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188720"/>
            <a:ext cx="502920" cy="502920"/>
          </a:xfrm>
          <a:prstGeom prst="ellipse">
            <a:avLst/>
          </a:prstGeom>
          <a:solidFill>
            <a:srgbClr val="E3EDF9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1115568"/>
            <a:ext cx="41376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資料・設定ファイルの履歴管理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1828800"/>
            <a:ext cx="47320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手順書やパラメータ設定ファイルの変更履歴を残し、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「いつ・誰が・何を変えたか」を追跡できる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40780" y="914400"/>
            <a:ext cx="537210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15100" y="1188720"/>
            <a:ext cx="502920" cy="502920"/>
          </a:xfrm>
          <a:prstGeom prst="ellipse">
            <a:avLst/>
          </a:prstGeom>
          <a:solidFill>
            <a:srgbClr val="E8F5E9"/>
          </a:solidFill>
          <a:ln/>
        </p:spPr>
      </p:sp>
      <p:sp>
        <p:nvSpPr>
          <p:cNvPr id="13" name="Text 11"/>
          <p:cNvSpPr/>
          <p:nvPr/>
        </p:nvSpPr>
        <p:spPr>
          <a:xfrm>
            <a:off x="6515100" y="1188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200900" y="1115568"/>
            <a:ext cx="41376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レビュー・承認プロセスの記録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60820" y="1828800"/>
            <a:ext cx="47320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変更内容をプルリクエストとして共有し、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コメントを付けながらレビュー・承認できる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926080"/>
            <a:ext cx="537210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3200400"/>
            <a:ext cx="502920" cy="502920"/>
          </a:xfrm>
          <a:prstGeom prst="ellipse">
            <a:avLst/>
          </a:prstGeom>
          <a:solidFill>
            <a:srgbClr val="EEEEEE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57575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3127248"/>
            <a:ext cx="41376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複数人での共同作業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3840480"/>
            <a:ext cx="47320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同じ資料やスクリプトを複数人で編集しても、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変更を安全に統合し、競合を防げる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40780" y="2926080"/>
            <a:ext cx="5372100" cy="169164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15100" y="3200400"/>
            <a:ext cx="502920" cy="502920"/>
          </a:xfrm>
          <a:prstGeom prst="ellipse">
            <a:avLst/>
          </a:prstGeom>
          <a:solidFill>
            <a:srgbClr val="FDEAEA"/>
          </a:solidFill>
          <a:ln/>
        </p:spPr>
      </p:sp>
      <p:sp>
        <p:nvSpPr>
          <p:cNvPr id="23" name="Text 21"/>
          <p:cNvSpPr/>
          <p:nvPr/>
        </p:nvSpPr>
        <p:spPr>
          <a:xfrm>
            <a:off x="651510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200900" y="3127248"/>
            <a:ext cx="41376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過去バージョンへの復元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60820" y="3840480"/>
            <a:ext cx="47320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誤って上書き・削除してしまった場合でも、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過去の状態にすぐ戻すことができる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20040" y="660196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3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2026 MatsukiyoCocokara &amp; Co. All rights Reserved.</a:t>
            </a:r>
            <a:endParaRPr lang="en-US" sz="530" dirty="0"/>
          </a:p>
        </p:txBody>
      </p:sp>
      <p:sp>
        <p:nvSpPr>
          <p:cNvPr id="27" name="Text 25"/>
          <p:cNvSpPr/>
          <p:nvPr/>
        </p:nvSpPr>
        <p:spPr>
          <a:xfrm>
            <a:off x="7772400" y="660196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3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IT部門 勉強会｜Git/GitHub入門</a:t>
            </a:r>
            <a:endParaRPr lang="en-US" sz="530" dirty="0"/>
          </a:p>
        </p:txBody>
      </p:sp>
      <p:sp>
        <p:nvSpPr>
          <p:cNvPr id="28" name="Text 26"/>
          <p:cNvSpPr/>
          <p:nvPr/>
        </p:nvSpPr>
        <p:spPr>
          <a:xfrm>
            <a:off x="11686032" y="660196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75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12</a:t>
            </a:r>
            <a:endParaRPr lang="en-US" sz="6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具体例：IT部門の業務にあてはめると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887968" y="73152"/>
            <a:ext cx="29809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MatsukiyoCocokara &amp; Co.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0" y="640080"/>
            <a:ext cx="12188952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86868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886200"/>
                <a:gridCol w="3886200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業務シーン</a:t>
                      </a:r>
                      <a:endParaRPr lang="en-US" sz="12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これまでの方法</a:t>
                      </a:r>
                      <a:endParaRPr lang="en-US" sz="12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Gitを使った場合</a:t>
                      </a:r>
                      <a:endParaRPr lang="en-US" sz="12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333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プロジェクト資料の更新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（要件定義書・議事録など）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ファイル名に日付や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「_最新」を付けて管理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コミット履歴で変更経緯を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自動的に記録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DF9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設定ファイル・パラメータ管理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（POSレジ設定など）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エクセルや共有フォルダで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手動管理・上書きのリスク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変更差分を確認しながら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安全に更新・共有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DF9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ベンダーとの資料共有・レビュー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メールでのファイル送付・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バージョン管理が煩雑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プルリクエストで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33333"/>
                          </a:solidFill>
                          <a:latin typeface="Meiryo UI" pitchFamily="34" charset="0"/>
                          <a:ea typeface="Meiryo UI" pitchFamily="34" charset="-122"/>
                          <a:cs typeface="Meiryo UI" pitchFamily="34" charset="-120"/>
                        </a:rPr>
                        <a:t>変更点を明確に共有</a:t>
                      </a:r>
                      <a:endParaRPr lang="en-US" sz="1050" dirty="0">
                        <a:latin typeface="Meiryo UI" charset="0"/>
                        <a:ea typeface="Meiryo UI" charset="0"/>
                        <a:cs typeface="Meiryo U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DF9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47548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 導入する場合は、まず一部の資料・小規模なチームから試験的に始めるのがおすすめです。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20040" y="660196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3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2026 MatsukiyoCocokara &amp; Co. All rights Reserved.</a:t>
            </a:r>
            <a:endParaRPr lang="en-US" sz="530" dirty="0"/>
          </a:p>
        </p:txBody>
      </p:sp>
      <p:sp>
        <p:nvSpPr>
          <p:cNvPr id="9" name="Text 6"/>
          <p:cNvSpPr/>
          <p:nvPr/>
        </p:nvSpPr>
        <p:spPr>
          <a:xfrm>
            <a:off x="7772400" y="660196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3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IT部門 勉強会｜Git/GitHub入門</a:t>
            </a:r>
            <a:endParaRPr lang="en-US" sz="530" dirty="0"/>
          </a:p>
        </p:txBody>
      </p:sp>
      <p:sp>
        <p:nvSpPr>
          <p:cNvPr id="10" name="Text 7"/>
          <p:cNvSpPr/>
          <p:nvPr/>
        </p:nvSpPr>
        <p:spPr>
          <a:xfrm>
            <a:off x="11686032" y="660196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75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13</a:t>
            </a:r>
            <a:endParaRPr lang="en-US" sz="6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まとめ・次のステップ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887968" y="73152"/>
            <a:ext cx="29809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MatsukiyoCocokara &amp; Co.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0" y="640080"/>
            <a:ext cx="12188952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914400"/>
            <a:ext cx="11064240" cy="1920240"/>
          </a:xfrm>
          <a:prstGeom prst="roundRect">
            <a:avLst>
              <a:gd name="adj" fmla="val 2857"/>
            </a:avLst>
          </a:prstGeom>
          <a:solidFill>
            <a:srgbClr val="E3EDF9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097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65C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今日の3つのポイント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08760"/>
            <a:ext cx="10424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Gitは変更履歴を記録する仕組み。GitHubはそれをクラウドで使うサービス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操作はコマンドライン・GUIどちらでも可能。まずはGUIから始めるのがおすすめ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資料・設定ファイルの管理や共同作業など、非エンジニアの業務にも活用できる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48640" y="3108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次のステップ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566160"/>
            <a:ext cx="11064240" cy="502920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56616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GitHubアカウントを作成する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187952"/>
            <a:ext cx="11064240" cy="502920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187952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GUIツール（GitHub Desktop等）をインストールする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809744"/>
            <a:ext cx="11064240" cy="502920"/>
          </a:xfrm>
          <a:prstGeom prst="roundRect">
            <a:avLst>
              <a:gd name="adj" fmla="val 9091"/>
            </a:avLst>
          </a:prstGeom>
          <a:solidFill>
            <a:srgbClr val="F5F5F5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809744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練習用リポジトリで clone → add → commit → push を試す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5614416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ご不明点があれば、IT部門内でいつでもお声がけください。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20040" y="660196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30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Copyright 2026 MatsukiyoCocokara &amp; Co. All rights Reserved.</a:t>
            </a:r>
            <a:endParaRPr lang="en-US" sz="530" dirty="0"/>
          </a:p>
        </p:txBody>
      </p:sp>
      <p:sp>
        <p:nvSpPr>
          <p:cNvPr id="18" name="Text 16"/>
          <p:cNvSpPr/>
          <p:nvPr/>
        </p:nvSpPr>
        <p:spPr>
          <a:xfrm>
            <a:off x="7772400" y="660196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530" dirty="0">
                <a:solidFill>
                  <a:srgbClr val="6B7280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IT部門 勉強会｜Git/GitHub入門</a:t>
            </a:r>
            <a:endParaRPr lang="en-US" sz="530" dirty="0"/>
          </a:p>
        </p:txBody>
      </p:sp>
      <p:sp>
        <p:nvSpPr>
          <p:cNvPr id="19" name="Text 17"/>
          <p:cNvSpPr/>
          <p:nvPr/>
        </p:nvSpPr>
        <p:spPr>
          <a:xfrm>
            <a:off x="11686032" y="6601968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75" dirty="0">
                <a:solidFill>
                  <a:srgbClr val="33333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14</a:t>
            </a:r>
            <a:endParaRPr lang="en-US" sz="6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2026-07-14T01:06:12Z</dcterms:created>
  <dcterms:modified xsi:type="dcterms:W3CDTF">2026-07-14T01:06:12Z</dcterms:modified>
</cp:coreProperties>
</file>